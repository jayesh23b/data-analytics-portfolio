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21"/>
  </p:notes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38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F652D-4744-4E87-86C2-FB2C2A738C8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2E588-B41A-47B6-A8B0-F71F0AE27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1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2E588-B41A-47B6-A8B0-F71F0AE27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19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2E588-B41A-47B6-A8B0-F71F0AE270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6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41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4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76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0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2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1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0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5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4AB909-81C0-4D6F-8B3D-12043F4D7DE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192028-4884-430D-8375-ECC59438EFC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70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EDCD9-1796-8FED-37D1-4C6CA11C4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372" y="1515535"/>
            <a:ext cx="8676222" cy="320040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	</a:t>
            </a:r>
            <a:r>
              <a:rPr lang="en-US" sz="4400" b="1" dirty="0">
                <a:latin typeface="Algerian" panose="04020705040A02060702" pitchFamily="82" charset="0"/>
              </a:rPr>
              <a:t>Customer Profitability Analysis Using Power BI</a:t>
            </a:r>
            <a:br>
              <a:rPr lang="en-US" sz="3600" dirty="0"/>
            </a:br>
            <a:br>
              <a:rPr lang="en-US" sz="36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</a:rPr>
            </a:br>
            <a:r>
              <a:rPr lang="en-US" sz="22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  <a:t>Course: Data Science[CX-144]</a:t>
            </a:r>
            <a:br>
              <a:rPr lang="en-US" sz="22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</a:br>
            <a:r>
              <a:rPr lang="en-US" sz="22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  <a:t>Student Name: </a:t>
            </a:r>
            <a:r>
              <a:rPr lang="en-US" sz="2200" b="1" i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  <a:t>Jayesh Bacchav</a:t>
            </a:r>
            <a:br>
              <a:rPr lang="en-US" sz="22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</a:br>
            <a:r>
              <a:rPr lang="en-US" sz="22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  <a:t>Institute: </a:t>
            </a:r>
            <a:r>
              <a:rPr lang="en-US" sz="2200" b="1" i="1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  <a:t>CoachX.Live</a:t>
            </a:r>
            <a:br>
              <a:rPr lang="en-US" sz="32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lgerian" panose="04020705040A02060702" pitchFamily="82" charset="0"/>
              </a:rPr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2B6E5-0FB9-94DD-DF73-384E8F178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533" y="4495800"/>
            <a:ext cx="10405534" cy="1905000"/>
          </a:xfrm>
        </p:spPr>
        <p:txBody>
          <a:bodyPr>
            <a:normAutofit/>
          </a:bodyPr>
          <a:lstStyle/>
          <a:p>
            <a:r>
              <a:rPr lang="en-US" sz="3100" b="1" dirty="0"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  <a:br>
              <a:rPr lang="en-US" dirty="0"/>
            </a:br>
            <a:r>
              <a:rPr lang="en-US" sz="1800" b="1" dirty="0">
                <a:latin typeface="Calisto MT" panose="02040603050505030304" pitchFamily="18" charset="0"/>
              </a:rPr>
              <a:t>This project develops an interactive Power BI dashboard to analyze revenue, costs, and profitability across customers, industries, and business units. The system helps identify profitable segments and performance gaps.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FCA37D-8870-0FB9-7A6C-2B6EAB2B1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199" y="0"/>
            <a:ext cx="2446867" cy="64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5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DAB6-2E7B-DCAB-1F3B-CC9C8446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60" y="591252"/>
            <a:ext cx="9905998" cy="97366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lgerian" panose="04020705040A02060702" pitchFamily="82" charset="0"/>
              </a:rPr>
              <a:t>Problem Statement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ABF62-14F9-8E46-7089-53B93BFF64E3}"/>
              </a:ext>
            </a:extLst>
          </p:cNvPr>
          <p:cNvSpPr txBox="1"/>
          <p:nvPr/>
        </p:nvSpPr>
        <p:spPr>
          <a:xfrm>
            <a:off x="1363294" y="1839082"/>
            <a:ext cx="79925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sto MT" panose="02040603050505030304" pitchFamily="18" charset="0"/>
              </a:rPr>
              <a:t>Organizations often focus on increasing sales, but high revenue does not always lead to high profit.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r>
              <a:rPr lang="en-US" sz="2400" dirty="0">
                <a:latin typeface="Calisto MT" panose="02040603050505030304" pitchFamily="18" charset="0"/>
              </a:rPr>
              <a:t>Businesses face challenges such as: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Identifying profitable vs loss-making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Monitoring performance against budget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Understanding cost behavior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Tracking performance trends over time</a:t>
            </a:r>
          </a:p>
          <a:p>
            <a:endParaRPr lang="en-US" sz="2400" dirty="0">
              <a:latin typeface="Calisto MT" panose="020406030505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1F8A7-CA61-A6BF-0099-B457C8C4097B}"/>
              </a:ext>
            </a:extLst>
          </p:cNvPr>
          <p:cNvSpPr txBox="1"/>
          <p:nvPr/>
        </p:nvSpPr>
        <p:spPr>
          <a:xfrm>
            <a:off x="440267" y="5044749"/>
            <a:ext cx="11683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sto MT" panose="02040603050505030304" pitchFamily="18" charset="0"/>
              </a:rPr>
              <a:t>Therefore, a data-driven system is required to evaluate profitability and support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42501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45F4-6969-E251-A100-52739D80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65933"/>
            <a:ext cx="9601196" cy="1303867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CC384-92E6-30B3-2667-C89944816D58}"/>
              </a:ext>
            </a:extLst>
          </p:cNvPr>
          <p:cNvSpPr txBox="1"/>
          <p:nvPr/>
        </p:nvSpPr>
        <p:spPr>
          <a:xfrm>
            <a:off x="1295402" y="1986970"/>
            <a:ext cx="10058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The objectives of this project are: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Calculate Revenue, Cost of Goods Sold (COGS), Gross Margin and GM%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Compare Actual performance with Budget targets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Analyze customer, industry and regional profitability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Evaluate executive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Perform Year-to-Date (YTD) and Year-over-Year (YoY)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Build an interactive dashboard for business users</a:t>
            </a:r>
          </a:p>
        </p:txBody>
      </p:sp>
    </p:spTree>
    <p:extLst>
      <p:ext uri="{BB962C8B-B14F-4D97-AF65-F5344CB8AC3E}">
        <p14:creationId xmlns:p14="http://schemas.microsoft.com/office/powerpoint/2010/main" val="288790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0F74-FCE7-E59A-0CC0-4F3AD098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Tools &amp;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A8620-322B-85CA-0A07-F9BE78EF5179}"/>
              </a:ext>
            </a:extLst>
          </p:cNvPr>
          <p:cNvSpPr txBox="1"/>
          <p:nvPr/>
        </p:nvSpPr>
        <p:spPr>
          <a:xfrm>
            <a:off x="1141413" y="2111277"/>
            <a:ext cx="105341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sto MT" panose="02040603050505030304" pitchFamily="18" charset="0"/>
              </a:rPr>
              <a:t>Power BI Desktop</a:t>
            </a:r>
            <a:r>
              <a:rPr lang="en-US" sz="2400" dirty="0">
                <a:latin typeface="Calisto MT" panose="02040603050505030304" pitchFamily="18" charset="0"/>
              </a:rPr>
              <a:t> – Data visualization and dashboard creation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sto MT" panose="02040603050505030304" pitchFamily="18" charset="0"/>
              </a:rPr>
              <a:t>DAX (Data Analysis Expressions)</a:t>
            </a:r>
            <a:r>
              <a:rPr lang="en-US" sz="2400" dirty="0">
                <a:latin typeface="Calisto MT" panose="02040603050505030304" pitchFamily="18" charset="0"/>
              </a:rPr>
              <a:t> – Calculations and measures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sto MT" panose="02040603050505030304" pitchFamily="18" charset="0"/>
              </a:rPr>
              <a:t>Power Query</a:t>
            </a:r>
            <a:r>
              <a:rPr lang="en-US" sz="2400" dirty="0">
                <a:latin typeface="Calisto MT" panose="02040603050505030304" pitchFamily="18" charset="0"/>
              </a:rPr>
              <a:t> – Data transformation and cleaning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sto MT" panose="02040603050505030304" pitchFamily="18" charset="0"/>
              </a:rPr>
              <a:t>Excel Dataset</a:t>
            </a:r>
            <a:r>
              <a:rPr lang="en-US" sz="2400" dirty="0">
                <a:latin typeface="Calisto MT" panose="02040603050505030304" pitchFamily="18" charset="0"/>
              </a:rPr>
              <a:t> – Source data</a:t>
            </a:r>
          </a:p>
          <a:p>
            <a:pPr>
              <a:buNone/>
            </a:pPr>
            <a:endParaRPr lang="en-US" sz="2400" b="1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Power BI was used because it provides interactive visualization, time intelligence calculations, and dynamic filtering.</a:t>
            </a:r>
          </a:p>
        </p:txBody>
      </p:sp>
    </p:spTree>
    <p:extLst>
      <p:ext uri="{BB962C8B-B14F-4D97-AF65-F5344CB8AC3E}">
        <p14:creationId xmlns:p14="http://schemas.microsoft.com/office/powerpoint/2010/main" val="137771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1C0E-F507-FB47-68F8-288FBC95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3532"/>
            <a:ext cx="10058400" cy="982135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Data Model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0BCDF-D649-6712-23F6-FE809148A7A5}"/>
              </a:ext>
            </a:extLst>
          </p:cNvPr>
          <p:cNvSpPr txBox="1"/>
          <p:nvPr/>
        </p:nvSpPr>
        <p:spPr>
          <a:xfrm>
            <a:off x="599440" y="1735667"/>
            <a:ext cx="110540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alisto MT" panose="02040603050505030304" pitchFamily="18" charset="0"/>
              </a:rPr>
              <a:t>The project uses a </a:t>
            </a:r>
            <a:r>
              <a:rPr lang="en-US" b="1" dirty="0">
                <a:latin typeface="Calisto MT" panose="02040603050505030304" pitchFamily="18" charset="0"/>
              </a:rPr>
              <a:t>Dimensional Data Model</a:t>
            </a:r>
            <a:r>
              <a:rPr lang="en-US" dirty="0">
                <a:latin typeface="Calisto MT" panose="02040603050505030304" pitchFamily="18" charset="0"/>
              </a:rPr>
              <a:t> consisting of a central fact table and multiple dimension tables.</a:t>
            </a:r>
          </a:p>
          <a:p>
            <a:pPr>
              <a:buNone/>
            </a:pPr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b="1" dirty="0">
                <a:latin typeface="Calisto MT" panose="02040603050505030304" pitchFamily="18" charset="0"/>
              </a:rPr>
              <a:t>Fact Table</a:t>
            </a:r>
            <a:endParaRPr lang="en-US" dirty="0">
              <a:latin typeface="Calisto MT" panose="020406030505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Stores transactional data such as Revenue and all cost components.</a:t>
            </a:r>
          </a:p>
          <a:p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b="1" dirty="0">
                <a:latin typeface="Calisto MT" panose="02040603050505030304" pitchFamily="18" charset="0"/>
              </a:rPr>
              <a:t>Dimension Tables</a:t>
            </a:r>
            <a:endParaRPr lang="en-US" dirty="0">
              <a:latin typeface="Calisto MT" panose="020406030505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Industry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Region/State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Executive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Business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Scenario (Actual vs Budget)</a:t>
            </a:r>
          </a:p>
          <a:p>
            <a:endParaRPr lang="en-US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b="1" dirty="0">
                <a:latin typeface="Calisto MT" panose="02040603050505030304" pitchFamily="18" charset="0"/>
              </a:rPr>
              <a:t>The fact table contains numerical measures, while dimension tables provide descriptive information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25468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699E8-F20F-65AA-965E-D100929C3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3" y="93133"/>
            <a:ext cx="11980334" cy="66463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025268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6EDA-AA17-7D4F-435E-7D337A8B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13267"/>
            <a:ext cx="9905998" cy="1905000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Star Schema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0B196-8499-29EE-B3B0-0A0B8EE74715}"/>
              </a:ext>
            </a:extLst>
          </p:cNvPr>
          <p:cNvSpPr txBox="1"/>
          <p:nvPr/>
        </p:nvSpPr>
        <p:spPr>
          <a:xfrm>
            <a:off x="1022773" y="1989373"/>
            <a:ext cx="101464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Calisto MT" panose="02040603050505030304" pitchFamily="18" charset="0"/>
              </a:rPr>
              <a:t>A </a:t>
            </a:r>
            <a:r>
              <a:rPr lang="en-US" sz="2400" b="1" dirty="0">
                <a:latin typeface="Calisto MT" panose="02040603050505030304" pitchFamily="18" charset="0"/>
              </a:rPr>
              <a:t>Star Schema</a:t>
            </a:r>
            <a:r>
              <a:rPr lang="en-US" sz="2400" dirty="0">
                <a:latin typeface="Calisto MT" panose="02040603050505030304" pitchFamily="18" charset="0"/>
              </a:rPr>
              <a:t> was implemented where the fact table is connected to multiple dimension tables using one-to-many relationships.</a:t>
            </a:r>
          </a:p>
          <a:p>
            <a:pPr>
              <a:buNone/>
            </a:pPr>
            <a:r>
              <a:rPr lang="en-US" sz="2400" dirty="0">
                <a:latin typeface="Calisto MT" panose="02040603050505030304" pitchFamily="18" charset="0"/>
              </a:rPr>
              <a:t>Benefits: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Faster report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Easy filtering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Accurate aggregations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Better analytical queries</a:t>
            </a:r>
          </a:p>
          <a:p>
            <a:pPr>
              <a:buNone/>
            </a:pPr>
            <a:r>
              <a:rPr lang="en-US" sz="2400" dirty="0">
                <a:latin typeface="Calisto MT" panose="02040603050505030304" pitchFamily="18" charset="0"/>
              </a:rPr>
              <a:t>A dedicated Date table was created to enable time-intelligence calculations such as YTD and YoY growth.</a:t>
            </a:r>
          </a:p>
        </p:txBody>
      </p:sp>
    </p:spTree>
    <p:extLst>
      <p:ext uri="{BB962C8B-B14F-4D97-AF65-F5344CB8AC3E}">
        <p14:creationId xmlns:p14="http://schemas.microsoft.com/office/powerpoint/2010/main" val="11825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BAC2-7801-95BF-3046-2149BBE2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Key Business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E0166-F105-1087-CEE8-B19B9616C732}"/>
              </a:ext>
            </a:extLst>
          </p:cNvPr>
          <p:cNvSpPr txBox="1"/>
          <p:nvPr/>
        </p:nvSpPr>
        <p:spPr>
          <a:xfrm>
            <a:off x="1141413" y="2093416"/>
            <a:ext cx="10058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Revenue</a:t>
            </a:r>
            <a:br>
              <a:rPr lang="en-US" sz="2400" dirty="0">
                <a:latin typeface="Calisto MT" panose="02040603050505030304" pitchFamily="18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Total sales amount generated.</a:t>
            </a: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Cost of Goods Sold (COGS)</a:t>
            </a:r>
            <a:br>
              <a:rPr lang="en-US" sz="2400" dirty="0">
                <a:latin typeface="Calisto MT" panose="02040603050505030304" pitchFamily="18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Material Cost + Labor Cost + Taxes + Travel Expenses + Third-Party Cost</a:t>
            </a: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Gross Margin</a:t>
            </a:r>
            <a:br>
              <a:rPr lang="en-US" sz="2400" dirty="0">
                <a:latin typeface="Calisto MT" panose="02040603050505030304" pitchFamily="18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Gross Margin = Revenue − COGS</a:t>
            </a: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Gross Margin Percentage (GM%)</a:t>
            </a:r>
            <a:br>
              <a:rPr lang="en-US" sz="2400" dirty="0">
                <a:latin typeface="Calisto MT" panose="02040603050505030304" pitchFamily="18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GM% = Gross Margin ÷ Revenue</a:t>
            </a: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Revenue Variance</a:t>
            </a:r>
            <a:br>
              <a:rPr lang="en-US" sz="2400" dirty="0">
                <a:latin typeface="Calisto MT" panose="02040603050505030304" pitchFamily="18" charset="0"/>
              </a:rPr>
            </a:br>
            <a:r>
              <a:rPr lang="en-US" sz="2400" dirty="0">
                <a:latin typeface="Aptos Narrow" panose="020B0004020202020204" pitchFamily="34" charset="0"/>
              </a:rPr>
              <a:t>Revenue Variance = Actual Revenue − Budget Revenue</a:t>
            </a:r>
          </a:p>
          <a:p>
            <a:pPr>
              <a:buNone/>
            </a:pPr>
            <a:endParaRPr lang="en-US" sz="2400" dirty="0">
              <a:latin typeface="Aptos Narrow" panose="020B0004020202020204" pitchFamily="34" charset="0"/>
            </a:endParaRP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Gross Margin and GM% are used to evaluate business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92984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EA0D-9D84-5BF4-43A2-23D23B0D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45987" cy="1450757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Customer Profitability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79DB3-4407-C1DA-F031-35FEB779ABA9}"/>
              </a:ext>
            </a:extLst>
          </p:cNvPr>
          <p:cNvSpPr txBox="1"/>
          <p:nvPr/>
        </p:nvSpPr>
        <p:spPr>
          <a:xfrm>
            <a:off x="1097279" y="1803400"/>
            <a:ext cx="94775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Calisto MT" panose="02040603050505030304" pitchFamily="18" charset="0"/>
              </a:rPr>
              <a:t>This dashboard provides: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Revenue vs Cost vs Profit comparison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Customer ranking by revenue and margin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Customer contribution percentage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Dynamic filtering by region, industry and scenario</a:t>
            </a:r>
          </a:p>
          <a:p>
            <a:pPr>
              <a:buNone/>
            </a:pPr>
            <a:endParaRPr lang="en-US" sz="2400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The dashboard helps identify customers generating revenue but not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270448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4EAE1A-8F77-C2B0-BBD8-A2FDFC87A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7" y="67733"/>
            <a:ext cx="12022665" cy="670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9092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0EDF-2841-A246-179C-6F303578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Executive Performance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7AC81-2B24-A579-7F1B-106333C3DCE0}"/>
              </a:ext>
            </a:extLst>
          </p:cNvPr>
          <p:cNvSpPr txBox="1"/>
          <p:nvPr/>
        </p:nvSpPr>
        <p:spPr>
          <a:xfrm>
            <a:off x="526833" y="2413000"/>
            <a:ext cx="93895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section analyzes performance against targets: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Actual vs Budget revenue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Revenue variance by executive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Business unit margin performance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It highlights underperforming and overperforming executives.</a:t>
            </a:r>
          </a:p>
        </p:txBody>
      </p:sp>
    </p:spTree>
    <p:extLst>
      <p:ext uri="{BB962C8B-B14F-4D97-AF65-F5344CB8AC3E}">
        <p14:creationId xmlns:p14="http://schemas.microsoft.com/office/powerpoint/2010/main" val="333561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CE52E-72AA-3F81-6FBB-BDE23F3EA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520"/>
            <a:ext cx="12192000" cy="686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8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9CF9-437F-D6DB-E68F-509297BB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Industry Profitability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22E9A-E3B4-8619-5304-8CF3A33266CC}"/>
              </a:ext>
            </a:extLst>
          </p:cNvPr>
          <p:cNvSpPr txBox="1"/>
          <p:nvPr/>
        </p:nvSpPr>
        <p:spPr>
          <a:xfrm>
            <a:off x="1540933" y="2090172"/>
            <a:ext cx="92371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Calisto MT" panose="02040603050505030304" pitchFamily="18" charset="0"/>
              </a:rPr>
              <a:t>This analysis compares industries based 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Revenue contribution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Profitability (GM%)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Growth trends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>
              <a:buNone/>
            </a:pPr>
            <a:r>
              <a:rPr lang="en-US" sz="2400" b="1" dirty="0">
                <a:latin typeface="Calisto MT" panose="02040603050505030304" pitchFamily="18" charset="0"/>
              </a:rPr>
              <a:t>The dashboard helps identify industries that generate sales but low profit margins.</a:t>
            </a:r>
          </a:p>
        </p:txBody>
      </p:sp>
    </p:spTree>
    <p:extLst>
      <p:ext uri="{BB962C8B-B14F-4D97-AF65-F5344CB8AC3E}">
        <p14:creationId xmlns:p14="http://schemas.microsoft.com/office/powerpoint/2010/main" val="1989917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C4D2D-4147-53D7-4776-7AB138FCF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58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B86E-2185-DD0C-A9C7-0F5F791F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Time Series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3A069-ECFD-CC81-28E5-C51B8BBAFB3F}"/>
              </a:ext>
            </a:extLst>
          </p:cNvPr>
          <p:cNvSpPr txBox="1"/>
          <p:nvPr/>
        </p:nvSpPr>
        <p:spPr>
          <a:xfrm>
            <a:off x="1141413" y="2136338"/>
            <a:ext cx="107627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Time intelligence calculations were implemented:</a:t>
            </a:r>
          </a:p>
          <a:p>
            <a:pPr>
              <a:buNone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Year-to-Date (YTD):</a:t>
            </a:r>
            <a:br>
              <a:rPr lang="en-US" sz="2400" dirty="0"/>
            </a:br>
            <a:r>
              <a:rPr lang="en-US" sz="2400" dirty="0"/>
              <a:t>Measures performance from the beginning of the year to the selected date.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Year-over-Year (YoY):</a:t>
            </a:r>
            <a:br>
              <a:rPr lang="en-US" sz="2400" dirty="0"/>
            </a:br>
            <a:r>
              <a:rPr lang="en-US" sz="2400" dirty="0"/>
              <a:t>Compares performance with the same period in the previous year.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These metrics help track business growth trends and seasonal performance changes.</a:t>
            </a:r>
          </a:p>
        </p:txBody>
      </p:sp>
    </p:spTree>
    <p:extLst>
      <p:ext uri="{BB962C8B-B14F-4D97-AF65-F5344CB8AC3E}">
        <p14:creationId xmlns:p14="http://schemas.microsoft.com/office/powerpoint/2010/main" val="3484744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5D55-4494-A55E-5B89-F484421B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046" y="304800"/>
            <a:ext cx="8591020" cy="190500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Algerian" panose="04020705040A02060702" pitchFamily="82" charset="0"/>
              </a:rPr>
              <a:t>Key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898F9-CA5A-A598-8F90-F59715690AB2}"/>
              </a:ext>
            </a:extLst>
          </p:cNvPr>
          <p:cNvSpPr txBox="1"/>
          <p:nvPr/>
        </p:nvSpPr>
        <p:spPr>
          <a:xfrm>
            <a:off x="1221845" y="2291771"/>
            <a:ext cx="97451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Revenue is concentrated among a small number of customers.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High revenue does not always result in high profitability.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Some industries show strong sales but lower margins.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Budget variance reveals underperforming executives.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Cost behavior significantly affects gross margin.</a:t>
            </a:r>
          </a:p>
        </p:txBody>
      </p:sp>
    </p:spTree>
    <p:extLst>
      <p:ext uri="{BB962C8B-B14F-4D97-AF65-F5344CB8AC3E}">
        <p14:creationId xmlns:p14="http://schemas.microsoft.com/office/powerpoint/2010/main" val="137099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A68F-9E68-B1AB-F4CA-75C9FA1F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2D51-8D53-956A-E51D-461FF9AB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45" y="254000"/>
            <a:ext cx="9745133" cy="19050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lgerian" panose="04020705040A02060702" pitchFamily="82" charset="0"/>
              </a:rPr>
              <a:t>Benefits of the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FC487-3AA9-1D2B-5521-557299F4BDF3}"/>
              </a:ext>
            </a:extLst>
          </p:cNvPr>
          <p:cNvSpPr txBox="1"/>
          <p:nvPr/>
        </p:nvSpPr>
        <p:spPr>
          <a:xfrm>
            <a:off x="1221845" y="2159000"/>
            <a:ext cx="974513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sto MT" panose="02040603050505030304" pitchFamily="18" charset="0"/>
              </a:rPr>
              <a:t>The dashboard enables management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Identify profitable customers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Monitor executive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Compare actual performance with targets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Detect cost inefficiencies</a:t>
            </a:r>
          </a:p>
          <a:p>
            <a:endParaRPr lang="en-US" sz="2400" dirty="0">
              <a:latin typeface="Calisto MT" panose="0204060305050503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Make data-driven business decisions</a:t>
            </a:r>
          </a:p>
          <a:p>
            <a:endParaRPr lang="en-US" sz="24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781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21DF-93C9-E313-656B-9CC091EF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5FB31-ACD3-FB70-0D49-7C71CF34909A}"/>
              </a:ext>
            </a:extLst>
          </p:cNvPr>
          <p:cNvSpPr txBox="1"/>
          <p:nvPr/>
        </p:nvSpPr>
        <p:spPr>
          <a:xfrm>
            <a:off x="1141413" y="2514600"/>
            <a:ext cx="9067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The Customer Profitability Analysis dashboard provides a comprehensive view of business performance by combining financial metrics and interactive visualization.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Calisto MT" panose="02040603050505030304" pitchFamily="18" charset="0"/>
              </a:rPr>
              <a:t>The system allows organizations to focus not only on increasing revenue but also on improving profitability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208058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8A34CF-913C-2426-2C83-E00D47315859}"/>
              </a:ext>
            </a:extLst>
          </p:cNvPr>
          <p:cNvSpPr txBox="1"/>
          <p:nvPr/>
        </p:nvSpPr>
        <p:spPr>
          <a:xfrm>
            <a:off x="2920999" y="210980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latin typeface="Algerian" panose="04020705040A02060702" pitchFamily="82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23704392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193</TotalTime>
  <Words>705</Words>
  <Application>Microsoft Office PowerPoint</Application>
  <PresentationFormat>Widescreen</PresentationFormat>
  <Paragraphs>116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Algerian</vt:lpstr>
      <vt:lpstr>Aptos Narrow</vt:lpstr>
      <vt:lpstr>Arial</vt:lpstr>
      <vt:lpstr>Calibri</vt:lpstr>
      <vt:lpstr>Calibri Light</vt:lpstr>
      <vt:lpstr>Calisto MT</vt:lpstr>
      <vt:lpstr>Cambria</vt:lpstr>
      <vt:lpstr>Wingdings</vt:lpstr>
      <vt:lpstr>Retrospect</vt:lpstr>
      <vt:lpstr> Customer Profitability Analysis Using Power BI  Course: Data Science[CX-144] Student Name: Jayesh Bacchav Institute: CoachX.Live  </vt:lpstr>
      <vt:lpstr>Problem Statement</vt:lpstr>
      <vt:lpstr>Project Objectives</vt:lpstr>
      <vt:lpstr>Tools &amp; Technologies</vt:lpstr>
      <vt:lpstr>Data Model Overview</vt:lpstr>
      <vt:lpstr>PowerPoint Presentation</vt:lpstr>
      <vt:lpstr>Star Schema Design</vt:lpstr>
      <vt:lpstr>Key Business Metrics</vt:lpstr>
      <vt:lpstr>Customer Profitability Dashboard</vt:lpstr>
      <vt:lpstr>PowerPoint Presentation</vt:lpstr>
      <vt:lpstr>Executive Performance Analysis</vt:lpstr>
      <vt:lpstr>PowerPoint Presentation</vt:lpstr>
      <vt:lpstr>Industry Profitability Analysis</vt:lpstr>
      <vt:lpstr>PowerPoint Presentation</vt:lpstr>
      <vt:lpstr>Time Series Analysis</vt:lpstr>
      <vt:lpstr>Key Insights</vt:lpstr>
      <vt:lpstr>Benefits of the Dashboard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Bacchav</dc:creator>
  <cp:lastModifiedBy>Jayesh Bacchav</cp:lastModifiedBy>
  <cp:revision>4</cp:revision>
  <dcterms:created xsi:type="dcterms:W3CDTF">2026-02-23T04:22:59Z</dcterms:created>
  <dcterms:modified xsi:type="dcterms:W3CDTF">2026-02-28T06:44:05Z</dcterms:modified>
</cp:coreProperties>
</file>